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2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53" d="100"/>
          <a:sy n="53" d="100"/>
        </p:scale>
        <p:origin x="29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829F7-3301-4817-86F5-B4E107F74C66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F2A24-1FA2-47C5-8F99-240B9105AD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88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続いて、画像ではなく『テキスト型バックドア』の検証です。 こちらも特定の文字列を入力し、AIの出力を意図的に歪ませる攻撃です。 私たちは、**『人間にとって違和感のある文章は、AIにとっても不自然なはずだ』**という仮説を立てました。 そこで、文章の不自然さを測る指標として『PPL（パープレキシティ）』を用いて、攻撃を検知できるか検証しました。</a:t>
            </a:r>
            <a:endParaRPr lang="en-US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E3A655-945E-4220-9258-C3345E7EDAF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843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>
                <a:ea typeface="游ゴシック"/>
              </a:rPr>
              <a:t>実験では、正常なプロンプトと、3種類のバックドア攻撃を含むプロンプト計700件を比較しました。 結果をご覧ください。ゼロ幅文字や無意味な文字列はPPL値が跳ね上がり、検知が可能でした。 しかし、**『自然な単語』を悪用したバックドア（Appleなど）**は、正常なデータと数値が変わらず、</a:t>
            </a:r>
            <a:r>
              <a:rPr lang="ja-JP" b="1">
                <a:ea typeface="游ゴシック"/>
              </a:rPr>
              <a:t>検知できない</a:t>
            </a:r>
            <a:r>
              <a:rPr lang="ja-JP">
                <a:ea typeface="游ゴシック"/>
              </a:rPr>
              <a:t>ことが判明しました。 つまり、文章の『不自然さ』に頼る従来の手法には限界があり、AIの信頼性を守るためには、より高度な対策が必要であるということが明らかになりました。 </a:t>
            </a:r>
            <a:endParaRPr lang="en-US">
              <a:ea typeface="游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E3A655-945E-4220-9258-C3345E7EDAF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2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DD4D2-0E2F-19D1-C653-BDCB85735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6BF954-8C38-D9FA-F589-1D33E8DD0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A080A5-62DA-11C3-3054-24C1E01E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97234F-4F31-3EEF-2401-ADA9DAE2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2DE8D4-EAB8-FCF0-A66B-88CB2ACA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60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9D23ED-9FB3-4316-194C-AF328DFE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EB13D8-7691-29C4-91E2-E77AA2F37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2C7834-5BEB-C936-2C4A-1C6DE1F4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181E67-8637-D79E-EC78-C5B0C588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068DB6-CA50-AD13-B642-3DB1A5DC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65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C26A18-EF70-B24A-80D8-3B838074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48BBC5-67B7-B9A8-5EA5-28A84D945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3B9A1C-0F9F-DED9-164D-9FE53179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AF53C9-6CB4-2FC6-8A53-3ECB5F05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642DF4-1CE5-C0D8-904A-BB00E01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10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940615-0AD8-4DD2-C092-8B192AE0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2F0ED4-CBEE-747B-B576-E495F70C2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5E09EF-A0F9-DBC9-D5F0-4BAC18134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CA4643-1A99-3B95-2D54-CF7196E1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913E1E-22CB-A779-162F-30B26EA1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4DB8B5-5071-297B-809A-EFC702A5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66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06B017-9AFF-5A24-6F6C-9261173C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9A6D39-A05F-7D9A-0DCA-C44325115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4C9030-32BB-48D3-F55E-9A0CA1006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4BF713-2897-B93B-4505-A73FF3B86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955918-B8E4-BE53-0907-3E6FAF20A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4518F9-02B0-9D76-1678-01D7ED0A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06E772-9117-4C7B-8CC4-3F282B70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D839838-516A-4E4E-9A00-0F48AEFA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48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7E634A-2A93-DA0C-0D7B-DD664BE8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171057-BC10-B437-CFC3-51E32E85C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521917A-5B9D-7862-EFA6-A5EFF8C1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388DFD-9511-5D68-C3AE-BD5B9B21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9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211C965-3861-0E37-74E2-75D2C89F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4AD19A8-E134-1459-6BE8-E0E4595C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C73C1CA-6098-3CC5-036E-27041B48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90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88BE7-4FCD-6F6B-71DD-91E3E56D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D6C82C-B028-A7B9-17C3-6F3388EF3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DEB0EE-A374-1350-7EF7-7E7FA3379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B0DB01-416D-C97C-F334-F699ABF4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14C499-CD41-0A65-3F72-9A99DD37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71A150-C0D5-6BF4-48AD-0023843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260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EDBBE-4296-E1E7-1C57-DFB8EEB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D995867-71F0-B8B9-4C27-18803E206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6C198A-25C0-A81A-91AF-855392311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5EB1BB-88C3-4F9C-A1E6-03FE1828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4A862D-641F-A0C6-4DE6-A1D1467E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8A68EC-64B1-B4A1-B4F9-F731C8CA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83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1E4DE4-F8C9-6772-3AA7-2ED0A5E0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8A7BFD-1C7F-1DDE-2EBA-6CF85A327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50B370-98AC-8F50-FEDB-8D8F5BC9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012813-C92C-0F1B-F023-FF6769EE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683BBA-8022-3661-38AE-0CAF5FDF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472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5A1710-A4C7-4D51-BB9E-A7FE29591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AAE691-7581-FE3A-2B72-8206539DE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6ACEEC-8443-0321-CAF6-31C44468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527DD6-2D1B-DB76-4292-853A770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38A457-D428-9CB0-92C2-FE0149AA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067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F63F2D-DBE1-6A8E-C30F-ADFC05C7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8785D8-A9D8-9D98-A3B5-F1DBA6483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FD3BAF-905A-C627-5044-F25D42CB9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D3910-A632-4884-A6D2-0AA9017CA5C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A7E25-AE8F-0281-EBDF-B9AB06D01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7AE533-962F-2B3E-93CF-BACFE823B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42900-2358-41D7-B873-729BCF23A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825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B5E9C5-4159-5266-6206-6E2B0C9E7F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情報セキュリティ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B91D869-5B4A-BBB5-0C8F-758296A9F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テキスト型バックドアの対策ソフトウェアの開発</a:t>
            </a:r>
          </a:p>
        </p:txBody>
      </p:sp>
    </p:spTree>
    <p:extLst>
      <p:ext uri="{BB962C8B-B14F-4D97-AF65-F5344CB8AC3E}">
        <p14:creationId xmlns:p14="http://schemas.microsoft.com/office/powerpoint/2010/main" val="255417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F8A43-F90B-70A7-0D3F-78B00C2D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ea typeface="游ゴシック Light"/>
              </a:rPr>
              <a:t>テキスト型バックドア</a:t>
            </a:r>
            <a:r>
              <a:rPr lang="ja-JP" altLang="en-US">
                <a:ea typeface="游ゴシック Light"/>
              </a:rPr>
              <a:t>攻撃</a:t>
            </a:r>
            <a:r>
              <a:rPr kumimoji="1" lang="ja-JP" altLang="en-US">
                <a:ea typeface="游ゴシック Light"/>
              </a:rPr>
              <a:t>の対策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EB5E2C-0F4C-A8DD-F289-AE621C69C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kumimoji="1" lang="ja-JP" altLang="en-US" b="1"/>
              <a:t>定義</a:t>
            </a:r>
            <a:endParaRPr lang="en-US" altLang="ja-JP" b="1"/>
          </a:p>
          <a:p>
            <a:pPr lvl="1"/>
            <a:r>
              <a:rPr lang="ja-JP" altLang="en-US"/>
              <a:t>特定の文字列をプロンプトに含めることで、</a:t>
            </a:r>
            <a:endParaRPr lang="en-US" altLang="ja-JP"/>
          </a:p>
          <a:p>
            <a:pPr marL="457200" lvl="1" indent="0">
              <a:buNone/>
            </a:pPr>
            <a:r>
              <a:rPr lang="en-US" altLang="ja-JP">
                <a:ea typeface="游ゴシック"/>
              </a:rPr>
              <a:t>　AI</a:t>
            </a:r>
            <a:r>
              <a:rPr lang="ja-JP" altLang="en-US">
                <a:ea typeface="游ゴシック"/>
              </a:rPr>
              <a:t>モデルの出力を意図的にゆがめる攻撃</a:t>
            </a:r>
            <a:endParaRPr lang="en-US" altLang="ja-JP">
              <a:ea typeface="游ゴシック"/>
            </a:endParaRPr>
          </a:p>
          <a:p>
            <a:r>
              <a:rPr kumimoji="1" lang="ja-JP" altLang="en-US" b="1"/>
              <a:t>種類</a:t>
            </a:r>
            <a:endParaRPr lang="en-US" altLang="ja-JP" b="1"/>
          </a:p>
          <a:p>
            <a:pPr lvl="1"/>
            <a:r>
              <a:rPr kumimoji="1" lang="ja-JP" altLang="en-US"/>
              <a:t>無意味型</a:t>
            </a:r>
            <a:r>
              <a:rPr kumimoji="1" lang="en-US" altLang="ja-JP"/>
              <a:t>/</a:t>
            </a:r>
            <a:r>
              <a:rPr kumimoji="1" lang="ja-JP" altLang="en-US"/>
              <a:t>不可視型</a:t>
            </a:r>
            <a:r>
              <a:rPr lang="en-US" altLang="ja-JP"/>
              <a:t>/</a:t>
            </a:r>
            <a:r>
              <a:rPr kumimoji="1" lang="ja-JP" altLang="en-US"/>
              <a:t>自然言語型</a:t>
            </a:r>
            <a:endParaRPr kumimoji="1" lang="en-US" altLang="ja-JP"/>
          </a:p>
          <a:p>
            <a:r>
              <a:rPr lang="ja-JP" altLang="en-US" b="1"/>
              <a:t>対策</a:t>
            </a:r>
            <a:endParaRPr lang="en-US" altLang="ja-JP" b="1"/>
          </a:p>
          <a:p>
            <a:pPr lvl="1"/>
            <a:r>
              <a:rPr lang="ja-JP" altLang="en-US">
                <a:ea typeface="游ゴシック"/>
              </a:rPr>
              <a:t>入力プロンプトの不自然さを計測</a:t>
            </a:r>
            <a:endParaRPr lang="en-US" altLang="ja-JP">
              <a:ea typeface="游ゴシック"/>
            </a:endParaRPr>
          </a:p>
          <a:p>
            <a:r>
              <a:rPr lang="ja-JP" altLang="en-US" b="1"/>
              <a:t>仮説</a:t>
            </a:r>
            <a:endParaRPr lang="en-US" altLang="ja-JP" b="1"/>
          </a:p>
          <a:p>
            <a:pPr lvl="1"/>
            <a:r>
              <a:rPr lang="ja-JP" altLang="en-US">
                <a:ea typeface="游ゴシック"/>
              </a:rPr>
              <a:t>人間にとって違和感のある文章は機械にとっても怪しい</a:t>
            </a:r>
            <a:endParaRPr lang="en-US" altLang="ja-JP">
              <a:ea typeface="游ゴシック"/>
            </a:endParaRPr>
          </a:p>
          <a:p>
            <a:r>
              <a:rPr kumimoji="1" lang="ja-JP" altLang="en-US" b="1"/>
              <a:t>手法</a:t>
            </a:r>
            <a:endParaRPr kumimoji="1" lang="en-US" altLang="ja-JP" b="1"/>
          </a:p>
          <a:p>
            <a:pPr lvl="1"/>
            <a:r>
              <a:rPr lang="en-US" altLang="ja-JP"/>
              <a:t>GPT-2</a:t>
            </a:r>
            <a:r>
              <a:rPr lang="ja-JP" altLang="en-US"/>
              <a:t>で交差エントロピーを計算</a:t>
            </a:r>
            <a:endParaRPr lang="en-US" altLang="ja-JP"/>
          </a:p>
          <a:p>
            <a:pPr lvl="1"/>
            <a:r>
              <a:rPr lang="ja-JP" altLang="en-US">
                <a:ea typeface="游ゴシック"/>
              </a:rPr>
              <a:t>不自然さを</a:t>
            </a:r>
            <a:r>
              <a:rPr lang="en-US" altLang="ja-JP">
                <a:solidFill>
                  <a:srgbClr val="FF0000"/>
                </a:solidFill>
                <a:ea typeface="游ゴシック"/>
              </a:rPr>
              <a:t>PPL(</a:t>
            </a:r>
            <a:r>
              <a:rPr lang="en-US" altLang="ja-JP" err="1">
                <a:solidFill>
                  <a:srgbClr val="FF0000"/>
                </a:solidFill>
                <a:ea typeface="游ゴシック"/>
              </a:rPr>
              <a:t>perplexity:困惑</a:t>
            </a:r>
            <a:r>
              <a:rPr lang="en-US" altLang="ja-JP">
                <a:solidFill>
                  <a:srgbClr val="FF0000"/>
                </a:solidFill>
                <a:ea typeface="游ゴシック"/>
              </a:rPr>
              <a:t>)</a:t>
            </a:r>
            <a:r>
              <a:rPr lang="ja-JP" altLang="en-US">
                <a:ea typeface="游ゴシック"/>
              </a:rPr>
              <a:t>という名で数値化</a:t>
            </a:r>
            <a:endParaRPr lang="en-US" altLang="ja-JP">
              <a:ea typeface="游ゴシック"/>
            </a:endParaRPr>
          </a:p>
        </p:txBody>
      </p:sp>
      <p:pic>
        <p:nvPicPr>
          <p:cNvPr id="4" name="Picture 3" descr="プログラマーのイラスト | かわいいフリー素材集 いらすとや">
            <a:extLst>
              <a:ext uri="{FF2B5EF4-FFF2-40B4-BE49-F238E27FC236}">
                <a16:creationId xmlns:a16="http://schemas.microsoft.com/office/drawing/2014/main" id="{59AA0923-EAA8-5F46-07ED-8F9872E0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078" y="1450345"/>
            <a:ext cx="3977014" cy="3191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C861D8-B6A3-00DB-3411-794CBE8EC884}"/>
              </a:ext>
            </a:extLst>
          </p:cNvPr>
          <p:cNvSpPr txBox="1"/>
          <p:nvPr/>
        </p:nvSpPr>
        <p:spPr>
          <a:xfrm>
            <a:off x="10709542" y="649233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游ゴシック"/>
              </a:rPr>
              <a:t>５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39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E204BF1-BD85-C812-B570-63125B842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27664" y="3431996"/>
            <a:ext cx="8153041" cy="216886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5C0CB9-C60C-7ED6-DEA1-F3DE4679D33E}"/>
              </a:ext>
            </a:extLst>
          </p:cNvPr>
          <p:cNvSpPr txBox="1"/>
          <p:nvPr/>
        </p:nvSpPr>
        <p:spPr>
          <a:xfrm>
            <a:off x="720137" y="382012"/>
            <a:ext cx="1111276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2400" b="1">
                <a:ea typeface="游ゴシック"/>
              </a:rPr>
              <a:t>実験データ</a:t>
            </a:r>
            <a:endParaRPr lang="ja-JP"/>
          </a:p>
          <a:p>
            <a:r>
              <a:rPr lang="ja-JP" altLang="en-US" sz="2400">
                <a:ea typeface="游ゴシック"/>
              </a:rPr>
              <a:t> ・正常プロンプト：</a:t>
            </a:r>
            <a:r>
              <a:rPr lang="en-US" altLang="ja-JP" sz="2400">
                <a:ea typeface="游ゴシック"/>
              </a:rPr>
              <a:t>670</a:t>
            </a:r>
            <a:r>
              <a:rPr lang="ja-JP" altLang="en-US" sz="2400">
                <a:ea typeface="游ゴシック"/>
              </a:rPr>
              <a:t>件　バックドア：各種</a:t>
            </a:r>
            <a:r>
              <a:rPr lang="en-US" altLang="ja-JP" sz="2400">
                <a:ea typeface="游ゴシック"/>
              </a:rPr>
              <a:t>10</a:t>
            </a:r>
            <a:r>
              <a:rPr lang="ja-JP" altLang="en-US" sz="2400">
                <a:ea typeface="游ゴシック"/>
              </a:rPr>
              <a:t>件（計</a:t>
            </a:r>
            <a:r>
              <a:rPr lang="en-US" altLang="ja-JP" sz="2400">
                <a:ea typeface="游ゴシック"/>
              </a:rPr>
              <a:t>30</a:t>
            </a:r>
            <a:r>
              <a:rPr lang="ja-JP" altLang="en-US" sz="2400">
                <a:ea typeface="游ゴシック"/>
              </a:rPr>
              <a:t>件</a:t>
            </a:r>
            <a:r>
              <a:rPr lang="en-US" altLang="ja-JP" sz="2400">
                <a:ea typeface="游ゴシック"/>
              </a:rPr>
              <a:t>)　</a:t>
            </a:r>
            <a:r>
              <a:rPr lang="ja-JP" altLang="en-US" sz="2400">
                <a:ea typeface="游ゴシック"/>
              </a:rPr>
              <a:t>合計：</a:t>
            </a:r>
            <a:r>
              <a:rPr lang="en-US" altLang="ja-JP" sz="2400">
                <a:ea typeface="游ゴシック"/>
              </a:rPr>
              <a:t>700</a:t>
            </a:r>
            <a:r>
              <a:rPr lang="ja-JP" altLang="en-US" sz="2400">
                <a:ea typeface="游ゴシック"/>
              </a:rPr>
              <a:t>件</a:t>
            </a:r>
            <a:endParaRPr lang="en-US" altLang="ja-JP" sz="2400">
              <a:ea typeface="游ゴシック"/>
            </a:endParaRPr>
          </a:p>
          <a:p>
            <a:r>
              <a:rPr kumimoji="1" lang="ja-JP" altLang="en-US" sz="2400" b="1">
                <a:ea typeface="游ゴシック"/>
              </a:rPr>
              <a:t>実験結果</a:t>
            </a:r>
            <a:endParaRPr lang="en-US" altLang="ja-JP" sz="2400">
              <a:ea typeface="游ゴシック" panose="020B0400000000000000" pitchFamily="34" charset="-128"/>
            </a:endParaRPr>
          </a:p>
          <a:p>
            <a:r>
              <a:rPr lang="ja-JP" altLang="en-US" sz="2400">
                <a:ea typeface="游ゴシック"/>
              </a:rPr>
              <a:t> ・ゼロ幅文字／無意味文字列は</a:t>
            </a:r>
            <a:r>
              <a:rPr lang="en-US" altLang="ja-JP" sz="2400">
                <a:ea typeface="游ゴシック"/>
              </a:rPr>
              <a:t>PPL</a:t>
            </a:r>
            <a:r>
              <a:rPr lang="ja-JP" altLang="en-US" sz="2400">
                <a:ea typeface="游ゴシック"/>
              </a:rPr>
              <a:t>値が異常に高い→</a:t>
            </a:r>
            <a:r>
              <a:rPr lang="ja-JP" altLang="en-US" sz="2400">
                <a:solidFill>
                  <a:srgbClr val="FF0000"/>
                </a:solidFill>
                <a:ea typeface="游ゴシック"/>
              </a:rPr>
              <a:t>検知可能</a:t>
            </a:r>
            <a:endParaRPr lang="en-US" altLang="ja-JP" sz="2400">
              <a:solidFill>
                <a:srgbClr val="FF0000"/>
              </a:solidFill>
              <a:ea typeface="游ゴシック"/>
            </a:endParaRPr>
          </a:p>
          <a:p>
            <a:r>
              <a:rPr kumimoji="1" lang="ja-JP" altLang="en-US" sz="2400" b="1">
                <a:ea typeface="游ゴシック"/>
              </a:rPr>
              <a:t>課題</a:t>
            </a:r>
            <a:endParaRPr lang="en-US" altLang="ja-JP" sz="2400">
              <a:ea typeface="游ゴシック"/>
            </a:endParaRPr>
          </a:p>
          <a:p>
            <a:r>
              <a:rPr lang="ja-JP" altLang="en-US" sz="2400">
                <a:ea typeface="游ゴシック"/>
              </a:rPr>
              <a:t> ・</a:t>
            </a:r>
            <a:r>
              <a:rPr kumimoji="1" lang="ja-JP" altLang="en-US" sz="2400">
                <a:ea typeface="游ゴシック"/>
              </a:rPr>
              <a:t>自然な単語のバックドアは</a:t>
            </a:r>
            <a:r>
              <a:rPr kumimoji="1" lang="en-US" altLang="ja-JP" sz="2400">
                <a:ea typeface="游ゴシック"/>
              </a:rPr>
              <a:t>PPL</a:t>
            </a:r>
            <a:r>
              <a:rPr kumimoji="1" lang="ja-JP" altLang="en-US" sz="2400">
                <a:ea typeface="游ゴシック"/>
              </a:rPr>
              <a:t>値</a:t>
            </a:r>
            <a:r>
              <a:rPr lang="ja-JP" altLang="en-US" sz="2400">
                <a:ea typeface="游ゴシック"/>
              </a:rPr>
              <a:t>が</a:t>
            </a:r>
            <a:r>
              <a:rPr kumimoji="1" lang="ja-JP" altLang="en-US" sz="2400">
                <a:ea typeface="游ゴシック"/>
              </a:rPr>
              <a:t>低い</a:t>
            </a:r>
            <a:endParaRPr lang="en-US" altLang="ja-JP" sz="2400">
              <a:ea typeface="游ゴシック"/>
            </a:endParaRPr>
          </a:p>
          <a:p>
            <a:r>
              <a:rPr lang="ja-JP" altLang="en-US" sz="2400">
                <a:ea typeface="游ゴシック"/>
              </a:rPr>
              <a:t> ・本</a:t>
            </a:r>
            <a:r>
              <a:rPr kumimoji="1" lang="ja-JP" altLang="en-US" sz="2400">
                <a:ea typeface="游ゴシック"/>
              </a:rPr>
              <a:t>手法ではバックドア検知</a:t>
            </a:r>
            <a:r>
              <a:rPr lang="ja-JP" altLang="en-US" sz="2400">
                <a:ea typeface="游ゴシック"/>
              </a:rPr>
              <a:t>不可</a:t>
            </a:r>
            <a:endParaRPr lang="en-US" altLang="ja-JP" sz="2400">
              <a:ea typeface="游ゴシック" panose="020B0400000000000000" pitchFamily="34" charset="-128"/>
            </a:endParaRPr>
          </a:p>
          <a:p>
            <a:endParaRPr lang="ja-JP" altLang="en-US" sz="2400" b="1">
              <a:ea typeface="游ゴシック" panose="020B04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B5169-928F-8F59-7D49-6CE949D3917B}"/>
              </a:ext>
            </a:extLst>
          </p:cNvPr>
          <p:cNvSpPr txBox="1"/>
          <p:nvPr/>
        </p:nvSpPr>
        <p:spPr>
          <a:xfrm>
            <a:off x="10573470" y="649233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游ゴシック"/>
              </a:rPr>
              <a:t>６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67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365</Words>
  <Application>Microsoft Office PowerPoint</Application>
  <PresentationFormat>ワイド画面</PresentationFormat>
  <Paragraphs>28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情報セキュリティ</vt:lpstr>
      <vt:lpstr>テキスト型バックドア攻撃の対策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陸哉 濱</dc:creator>
  <cp:lastModifiedBy>陸哉 濱</cp:lastModifiedBy>
  <cp:revision>1</cp:revision>
  <dcterms:created xsi:type="dcterms:W3CDTF">2026-06-27T02:49:11Z</dcterms:created>
  <dcterms:modified xsi:type="dcterms:W3CDTF">2026-06-27T03:08:38Z</dcterms:modified>
</cp:coreProperties>
</file>